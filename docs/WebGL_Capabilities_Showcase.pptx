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cde50ce5954185" /><Relationship Type="http://schemas.openxmlformats.org/officeDocument/2006/relationships/extended-properties" Target="/docProps/app.xml" Id="R6e4298d6dad04d8d" /><Relationship Type="http://schemas.openxmlformats.org/officeDocument/2006/relationships/officeDocument" Target="/ppt/presentation.xml" Id="Reabbce08cc1a48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d37a00be7c40e5"/>
  </p:sldMasterIdLst>
  <p:notesMasterIdLst>
    <p:notesMasterId xmlns:r="http://schemas.openxmlformats.org/officeDocument/2006/relationships" r:id="Rd7e5f537f2a04113"/>
  </p:notesMasterIdLst>
  <p:sldIdLst>
    <p:sldId xmlns:r="http://schemas.openxmlformats.org/officeDocument/2006/relationships" id="256" r:id="Rda10c93abb644149"/>
    <p:sldId xmlns:r="http://schemas.openxmlformats.org/officeDocument/2006/relationships" id="257" r:id="R242c1a82ee3349c4"/>
    <p:sldId xmlns:r="http://schemas.openxmlformats.org/officeDocument/2006/relationships" id="258" r:id="R6df6e4099e8c467a"/>
    <p:sldId xmlns:r="http://schemas.openxmlformats.org/officeDocument/2006/relationships" id="259" r:id="Rfa7ee4521e0645d6"/>
    <p:sldId xmlns:r="http://schemas.openxmlformats.org/officeDocument/2006/relationships" id="260" r:id="Re21917af907d4dd4"/>
    <p:sldId xmlns:r="http://schemas.openxmlformats.org/officeDocument/2006/relationships" id="261" r:id="Rde4c27bc48164a31"/>
    <p:sldId xmlns:r="http://schemas.openxmlformats.org/officeDocument/2006/relationships" id="262" r:id="Rcd234843593a4a4e"/>
    <p:sldId xmlns:r="http://schemas.openxmlformats.org/officeDocument/2006/relationships" id="263" r:id="R7edd5615792c494f"/>
    <p:sldId xmlns:r="http://schemas.openxmlformats.org/officeDocument/2006/relationships" id="264" r:id="R135e2c4ba9104dea"/>
    <p:sldId xmlns:r="http://schemas.openxmlformats.org/officeDocument/2006/relationships" id="265" r:id="R25ce32eab090406d"/>
    <p:sldId xmlns:r="http://schemas.openxmlformats.org/officeDocument/2006/relationships" id="266" r:id="Ra5060c3e71c64127"/>
    <p:sldId xmlns:r="http://schemas.openxmlformats.org/officeDocument/2006/relationships" id="267" r:id="R0a8d1bd2598b41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d37a00be7c40e5" /><Relationship Type="http://schemas.openxmlformats.org/officeDocument/2006/relationships/theme" Target="/ppt/theme/theme1.xml" Id="R9dc32b94392e4612" /><Relationship Type="http://schemas.openxmlformats.org/officeDocument/2006/relationships/notesMaster" Target="/ppt/notesMasters/notesMaster1.xml" Id="Rd7e5f537f2a04113" /><Relationship Type="http://schemas.openxmlformats.org/officeDocument/2006/relationships/presProps" Target="/ppt/presProps.xml" Id="Rd176c92f806348f3" /><Relationship Type="http://schemas.openxmlformats.org/officeDocument/2006/relationships/viewProps" Target="/ppt/viewProps.xml" Id="Rfcfa3719c56a41b7" /><Relationship Type="http://schemas.openxmlformats.org/officeDocument/2006/relationships/tableStyles" Target="/ppt/tableStyles.xml" Id="R7c021fa8d74746cc" /><Relationship Type="http://schemas.openxmlformats.org/officeDocument/2006/relationships/slide" Target="/ppt/slides/slide1.xml" Id="Rda10c93abb644149" /><Relationship Type="http://schemas.openxmlformats.org/officeDocument/2006/relationships/slide" Target="/ppt/slides/slide2.xml" Id="R242c1a82ee3349c4" /><Relationship Type="http://schemas.openxmlformats.org/officeDocument/2006/relationships/slide" Target="/ppt/slides/slide3.xml" Id="R6df6e4099e8c467a" /><Relationship Type="http://schemas.openxmlformats.org/officeDocument/2006/relationships/slide" Target="/ppt/slides/slide4.xml" Id="Rfa7ee4521e0645d6" /><Relationship Type="http://schemas.openxmlformats.org/officeDocument/2006/relationships/slide" Target="/ppt/slides/slide5.xml" Id="Re21917af907d4dd4" /><Relationship Type="http://schemas.openxmlformats.org/officeDocument/2006/relationships/slide" Target="/ppt/slides/slide6.xml" Id="Rde4c27bc48164a31" /><Relationship Type="http://schemas.openxmlformats.org/officeDocument/2006/relationships/slide" Target="/ppt/slides/slide7.xml" Id="Rcd234843593a4a4e" /><Relationship Type="http://schemas.openxmlformats.org/officeDocument/2006/relationships/slide" Target="/ppt/slides/slide8.xml" Id="R7edd5615792c494f" /><Relationship Type="http://schemas.openxmlformats.org/officeDocument/2006/relationships/slide" Target="/ppt/slides/slide9.xml" Id="R135e2c4ba9104dea" /><Relationship Type="http://schemas.openxmlformats.org/officeDocument/2006/relationships/slide" Target="/ppt/slides/slide10.xml" Id="R25ce32eab090406d" /><Relationship Type="http://schemas.openxmlformats.org/officeDocument/2006/relationships/slide" Target="/ppt/slides/slide11.xml" Id="Ra5060c3e71c64127" /><Relationship Type="http://schemas.openxmlformats.org/officeDocument/2006/relationships/slide" Target="/ppt/slides/slide12.xml" Id="R0a8d1bd2598b41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ed389cc87f146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69d4c8e6474dba" /><Relationship Type="http://schemas.openxmlformats.org/officeDocument/2006/relationships/notesMaster" Target="/ppt/notesMasters/notesMaster1.xml" Id="R04be93d3bbb543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a0aaa6d0704f12" /><Relationship Type="http://schemas.openxmlformats.org/officeDocument/2006/relationships/notesMaster" Target="/ppt/notesMasters/notesMaster1.xml" Id="Rdbd65a938faa4f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88c3999ab04650" /><Relationship Type="http://schemas.openxmlformats.org/officeDocument/2006/relationships/notesMaster" Target="/ppt/notesMasters/notesMaster1.xml" Id="R6cde78e4f03f4b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e0d89b6073456e" /><Relationship Type="http://schemas.openxmlformats.org/officeDocument/2006/relationships/notesMaster" Target="/ppt/notesMasters/notesMaster1.xml" Id="R4f8730ccf5354e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6d1699dce94e0f" /><Relationship Type="http://schemas.openxmlformats.org/officeDocument/2006/relationships/notesMaster" Target="/ppt/notesMasters/notesMaster1.xml" Id="R72acbb642dde4f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065f26952b4149" /><Relationship Type="http://schemas.openxmlformats.org/officeDocument/2006/relationships/notesMaster" Target="/ppt/notesMasters/notesMaster1.xml" Id="R8787f3fadffd48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19f080d0e148cf" /><Relationship Type="http://schemas.openxmlformats.org/officeDocument/2006/relationships/notesMaster" Target="/ppt/notesMasters/notesMaster1.xml" Id="R0707331159ae47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99674533db44a4" /><Relationship Type="http://schemas.openxmlformats.org/officeDocument/2006/relationships/notesMaster" Target="/ppt/notesMasters/notesMaster1.xml" Id="Rd72e8df801bb43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cbccc44ac04b2b" /><Relationship Type="http://schemas.openxmlformats.org/officeDocument/2006/relationships/notesMaster" Target="/ppt/notesMasters/notesMaster1.xml" Id="R4ba752cbfc8042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f2d08700814318" /><Relationship Type="http://schemas.openxmlformats.org/officeDocument/2006/relationships/notesMaster" Target="/ppt/notesMasters/notesMaster1.xml" Id="R5ae5e58713ef40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8394fb9468495e" /><Relationship Type="http://schemas.openxmlformats.org/officeDocument/2006/relationships/notesMaster" Target="/ppt/notesMasters/notesMaster1.xml" Id="R2d49f2f459d643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1315c55f2b4e7a" /><Relationship Type="http://schemas.openxmlformats.org/officeDocument/2006/relationships/notesMaster" Target="/ppt/notesMasters/notesMaster1.xml" Id="R410474658be343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36a4e402547b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6ba699fe7ad4b9e" /><Relationship Type="http://schemas.openxmlformats.org/officeDocument/2006/relationships/slideLayout" Target="/ppt/slideLayouts/slideLayout2.xml" Id="R2a3c3896b50348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3c3896b50348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bcb40d35294f3a" /><Relationship Type="http://schemas.openxmlformats.org/officeDocument/2006/relationships/notesSlide" Target="/ppt/notesSlides/notesSlide1.xml" Id="R02430942531040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07035436154b24" /><Relationship Type="http://schemas.openxmlformats.org/officeDocument/2006/relationships/notesSlide" Target="/ppt/notesSlides/notesSlide2.xml" Id="R3b279d1e775141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c61475be6846fa" /><Relationship Type="http://schemas.openxmlformats.org/officeDocument/2006/relationships/notesSlide" Target="/ppt/notesSlides/notesSlide3.xml" Id="Rfbbf43b36ccc4f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c8ceeb074d496a" /><Relationship Type="http://schemas.openxmlformats.org/officeDocument/2006/relationships/notesSlide" Target="/ppt/notesSlides/notesSlide4.xml" Id="R6d271fc151ee4b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4c2ec66d854ee6" /><Relationship Type="http://schemas.openxmlformats.org/officeDocument/2006/relationships/notesSlide" Target="/ppt/notesSlides/notesSlide5.xml" Id="R5fa7b8d7b59a4b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d58e5bff0b43b2" /><Relationship Type="http://schemas.openxmlformats.org/officeDocument/2006/relationships/notesSlide" Target="/ppt/notesSlides/notesSlide6.xml" Id="Rfe171c6f586543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3b080586a849ca" /><Relationship Type="http://schemas.openxmlformats.org/officeDocument/2006/relationships/notesSlide" Target="/ppt/notesSlides/notesSlide7.xml" Id="R0815e27fe62046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4477088c964cd0" /><Relationship Type="http://schemas.openxmlformats.org/officeDocument/2006/relationships/image" Target="/ppt/media/image.png" Id="R9873ab6c802c4042" /><Relationship Type="http://schemas.openxmlformats.org/officeDocument/2006/relationships/notesSlide" Target="/ppt/notesSlides/notesSlide8.xml" Id="R2764000262994a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9d8bd37ad74a71" /><Relationship Type="http://schemas.openxmlformats.org/officeDocument/2006/relationships/notesSlide" Target="/ppt/notesSlides/notesSlide9.xml" Id="R5bda9308e64e47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54998e725148d2" /><Relationship Type="http://schemas.openxmlformats.org/officeDocument/2006/relationships/image" Target="/ppt/media/image2.png" Id="R0ea7c63bd6614851" /><Relationship Type="http://schemas.openxmlformats.org/officeDocument/2006/relationships/notesSlide" Target="/ppt/notesSlides/notesSlide10.xml" Id="Rc34c3becb57746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5ad624b5c64b68" /><Relationship Type="http://schemas.openxmlformats.org/officeDocument/2006/relationships/notesSlide" Target="/ppt/notesSlides/notesSlide11.xml" Id="R18bca7b2bfee4f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bd1b04c14e43bf" /><Relationship Type="http://schemas.openxmlformats.org/officeDocument/2006/relationships/notesSlide" Target="/ppt/notesSlides/notesSlide12.xml" Id="R00701fe13988498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BC1C3E-FCB7-49F9-A920-307CCCDE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84FCA9B-05D8-4DC3-8D8D-DB925559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82EB30C-9C44-4F76-BAB2-AE232F57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WEBGL CAPABILITY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B5227-D9F6-42A1-9A22-4CF0736C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WebGL turns the browser into a deployable 3D visualization runtime.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ACDDF-4444-4C50-BF18-F4E42C46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619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16B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66716B"/>
                </a:solidFill>
                <a:latin typeface="Georgia"/>
                <a:ea typeface="Georgia"/>
                <a:cs typeface="Georgia"/>
              </a:rPr>
              <a:t>The research arc moves from accessible 3D campus tours to optimized city-scale rendering to real-time 2D/3D situation platforms.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FA2CA-F07A-4459-9FB6-6D38B2A2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307BC-89B6-4AB2-AC24-DF8B093C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2038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6F84A-01EF-4BED-B083-4CACB01A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SOURCE PAPERS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175CC-23CF-4B8D-9BAC-379000C9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campus, geographic, situation display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6F8B6-D8A2-407B-8CB6-F8730C98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625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CFE40-A9CA-408B-A619-4B06AC9E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52975"/>
            <a:ext cx="2038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2D484-FD4C-4050-9E05-346AA31C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2445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LIVE PROJECTS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16C26-D687-4AC2-B5D4-604D9709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863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city roaming and situation display labs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FAED7C-F895-4237-B819-053993D0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625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776F2-D649-456A-9D57-999B5006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52975"/>
            <a:ext cx="2038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36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74548-F7D3-493F-BBF2-EF990C98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2445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FPS CASE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D85A9B-9115-4B01-B2FF-9B75B875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863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reported city-roaming average frame 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D8625-64B6-4ED3-A388-9344D5A9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76300"/>
            <a:ext cx="2476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939A9-BDC1-44D3-8B76-2E4045EE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2001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Browser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0A009B-FBD5-4972-B1F0-13081188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57350"/>
            <a:ext cx="1390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CB283-B055-4818-A13E-A1101A32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JavaScript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42E6AF-B934-4559-A67E-1B5DC767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717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809648-967F-46C7-9260-5077B359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241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WebGL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9B4A38-2F27-443C-8AD0-D9E0C838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241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6703B6-8D68-44B6-8F70-B5B93159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38500"/>
            <a:ext cx="1943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DE39EE-2284-40AA-951D-12296D47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38525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GPU pipeline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9C6F1A-6223-4B88-8518-235BE970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243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818E58-79AD-4B82-AAE2-6638646A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2435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63481A-3507-45F4-9F79-2A66E6FA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196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interactive 3D page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FF969E-79E4-4F68-92D0-B6F3F7EE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820D0A-F5D2-4648-850F-FE9B9647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Sources: user DOCX; WebGL papers supplied in workspace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5F97A3-D935-42E9-A2C9-058337EC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16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16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075819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6EC908-2DF5-4FFB-8A63-E7603C26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9A871D4-DC96-4378-842B-DD5BB62E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FB5045-D9A2-462F-A8FA-5BB923E6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SOURCE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2CBCB-5AAB-4E2F-9E15-CF0798E1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The papers form a maturity model: access, scale, then operational integration.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1D669-628A-4366-B09E-407BCE52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276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3F696-8994-4E6F-9872-82153F11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27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F55E4-94EC-4EBE-BCA7-A5BBCBE5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2015 campus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BDCB4-1E7D-468B-BA5D-50238E3A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29718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Three.js/WebGL made a 3D campus information system viewable in a browser, with ground/free modes, clickable building info, and usability testing.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6BA8A-2FC1-4590-AEAA-12FF2E25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3276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B8EC5-BA5D-420C-9742-17558B14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327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DE78F-5F2B-4077-B41C-8BF569C6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0505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2017 geographic scenes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DB1BC-1366-4AD6-BE5D-194BFD7A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90800"/>
            <a:ext cx="29718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The city-scale paper adds glTF organization, prediction-based prefetching, view-frustum culling, occlusion/back-face logic, and Cesium rendering.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8E82D-3559-4390-8A92-364A02A9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32766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4556E-16CC-4376-999A-9D7F1E2C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327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9E01F-0BEC-4BBD-94E4-CE32F397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2024 situation platform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315E30-28BA-44E7-8B7A-C406A093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90800"/>
            <a:ext cx="29718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The platform wraps WebGL in SOA layers, data services, 2D/3D linkage, model and map management, measurement tools, and deployment options.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00B1B-7ABC-418B-89FB-540DC259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Takeaway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12C6E-E068-45F3-8A62-8EED7A52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19700"/>
            <a:ext cx="866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WebGL capability is not one feature. It expands as the system adds asset pipelines, streaming strategy, culling, real-time data, and workflow modules.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B231D6-74C1-482F-B78F-79CC1AEE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A5CBF1-6F33-492C-A400-C17ED229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Sources: user DOCX; WebGL papers supplied in workspace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85A364-F0C1-494D-A339-223707FC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16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16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057845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0B9A2A-BABE-4CB8-94A1-64877E3A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929AF1F-F9B7-4C5A-B41C-BE256709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F0E0075-7469-4C8B-AE75-6BB09B3E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RUNTIME SHIFT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4A47F-8A54-40D8-8741-2F99B9DF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WebGL removes plugin friction without giving up the GPU.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70B02-DE53-4146-9A93-23108B62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619BE-7CC0-4691-894D-9025FF14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HTML5 canvas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E2174-0A43-41DE-A2E7-12BBA97E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2415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41116-2081-4EF5-941D-3F9415CC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A259A-FF81-4E16-B0FC-FA7C7737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908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JavaScript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13028-D291-40FF-9A29-BCD3F777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2415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9EBE5-7925-4B70-BD75-EF9AE851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812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8E86E-DFBF-47BD-9547-6362EC9A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908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WebGL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3564C-6A80-4C58-B78F-B164129D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0657E-04A5-47B1-9474-52845F74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81250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A4014-7AB8-47E0-8936-CD9502CD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908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GPU rasterization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E60EB-A0BD-4AE1-B894-99F11C62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70CAF-7EA2-44BB-8521-EBA8087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719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Open browser standard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3C32D0-8678-4604-8843-F183A00E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577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No proprietary runtime is required for compatible browsers.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90C3EA-0010-4F70-9560-72DB587A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0050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5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C426C-CEC2-422A-88EE-5FB8E20C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719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Page integration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A5549-3245-4FE6-B531-DC28D5F7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577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3D content can sit with normal web UI, data, controls, and overlays.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04CA23-78A2-4F51-AACA-7EDFABEA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0050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F832A0-1B16-4F2C-A11F-C200EF7E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Hardware acceleration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45577B-288E-4D7E-9B79-701C8862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577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Rendering work moves to the graphics pipeline instead of DOM-only drawing.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42C0AF-163B-434B-99A8-BBE707ED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A7E68A-2414-4462-8054-66D21742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Sources: user DOCX; WebGL papers supplied in workspace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3F2826-654E-473C-8439-C208C904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16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16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91851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C807F1-9CFE-41BC-A663-15577053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A0DD695-A24E-44B3-AFA1-8626FFF9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63FBD82-0BBD-4349-B042-1ADF421D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CAPABILITY LADDER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76E31-E8B9-47FA-9E84-F5326FB8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The capability ladder moves from navigation to optimization to decision support.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7918C-16E9-4C49-9D93-FC285DC9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8B69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2D8B69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ABBED-3EC1-4252-BA5D-CC119F8A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843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446D7-0845-4817-BB22-1D91BA53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828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Virtual place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5951F-FDB6-4415-A2D2-2BF1232D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14600"/>
            <a:ext cx="828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Campus tour: user moves through buildings and retrieves object information in-browser.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F3795-940E-41EE-8448-74394E37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575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7932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C7793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8DB5A-C0F0-4F50-ABE9-58C13562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09950"/>
            <a:ext cx="843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E08B0-BCE7-425B-B39D-F380A7E4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19450"/>
            <a:ext cx="828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Large-scene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D00F2-A877-4BF4-B134-6B43127F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67100"/>
            <a:ext cx="828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City roaming: scene delivery, cache queues, prefetching, view-frustum culling, and GPU rendering work together.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7EBF8-D6EC-4754-B61F-56407F6E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100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6F9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386F9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89B78-FD25-467E-BDB3-E1071051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62450"/>
            <a:ext cx="8439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63AEB-F35F-43EA-B08F-910FBD01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71950"/>
            <a:ext cx="828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Operational platform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A25F99-1AA6-4064-B581-A3ACF08F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19600"/>
            <a:ext cx="828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Situation display: WebGL is embedded in service layers, map services, live data, model libraries, and measurement workflows.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9A0ABD-132D-4CD4-9210-8F57B9CB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The same browser-native graphics standard supports all three, but each step adds architecture around the canvas.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35CBE-EF69-42BC-A862-D46BABD5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1B295D-6E27-4649-AE29-F0D5063B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Sources: user DOCX; WebGL papers supplied in workspace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5E4761-D478-4637-8DEF-F1F549F4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16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16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08276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6B3EA9-D844-4430-8387-08D6B7D2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7D8302B-4C9E-4796-BD9E-9B17C2A1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15BCAD8-E74A-4205-8E24-F1902DF0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CD3B5-7281-4774-A2D0-76D6F963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85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Architecture changes as the WebGL workload gets heavier.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DEB95-72F6-4586-836C-A7578AD5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32004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17C89-460D-4358-89B4-F18F769A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320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8B4E7-0268-46AA-9173-E48DB52E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Campus prototype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35814-F1AC-403E-B19F-D165ACBE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8B6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D8B69"/>
                </a:solidFill>
                <a:latin typeface="Avenir Next"/>
                <a:ea typeface="Avenir Next"/>
                <a:cs typeface="Avenir Next"/>
              </a:rPr>
              <a:t>Browser 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13F20-0455-4FCD-9E0C-2935668B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289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WebGL + Three.js renders models and UI.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03DEB-AC7C-4554-B434-35FFE934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263D6-98FD-48F6-BCE6-250B65FD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8B6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D8B69"/>
                </a:solidFill>
                <a:latin typeface="Avenir Next"/>
                <a:ea typeface="Avenir Next"/>
                <a:cs typeface="Avenir Next"/>
              </a:rPr>
              <a:t>Data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221F1-A32B-4537-8053-DDCB1850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528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Local JSON/object metadata for building info.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90CB2-542C-4300-912F-D3F7C1FF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A0287-616D-45C3-9195-B8E77C05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8B6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D8B69"/>
                </a:solidFill>
                <a:latin typeface="Avenir Next"/>
                <a:ea typeface="Avenir Next"/>
                <a:cs typeface="Avenir Next"/>
              </a:rPr>
              <a:t>Optimization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D6ED8-185F-478D-B93D-40DBB3C6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767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Accessible interaction; limited large-scene strategy.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583FE-F0F0-417E-888A-54B086EA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32004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63BE1-1023-44F2-AF34-EDFAC933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320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EA6FD9-2CC7-41C2-A7C2-BE26979A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860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Geographic city scene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77E42-8A0F-4E0D-905B-094BC526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289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793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C77932"/>
                </a:solidFill>
                <a:latin typeface="Avenir Next"/>
                <a:ea typeface="Avenir Next"/>
                <a:cs typeface="Avenir Next"/>
              </a:rPr>
              <a:t>Client/server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6ACD04-B218-4078-A01E-FCDD0742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289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Server stores glTF scene files; client renders with Cesium/WebGL.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AFD3CE-FABD-48BC-ACFC-DE360E52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814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A96C24-CAAF-4752-969B-0EFD80D4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528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793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C77932"/>
                </a:solidFill>
                <a:latin typeface="Avenir Next"/>
                <a:ea typeface="Avenir Next"/>
                <a:cs typeface="Avenir Next"/>
              </a:rPr>
              <a:t>Scheduling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DF3DD0-D2AD-44D8-899C-DFBF5E86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528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Trajectory prediction builds a pre-download queue.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B299A3-C104-4CDD-99F0-975A2EE3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053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7AB22F-4CC8-40F0-ADA5-0D88C267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767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793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C77932"/>
                </a:solidFill>
                <a:latin typeface="Avenir Next"/>
                <a:ea typeface="Avenir Next"/>
                <a:cs typeface="Avenir Next"/>
              </a:rPr>
              <a:t>Visibility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CB28EC-4190-41A3-B321-8343C133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767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Frustum and occlusion/back-face culling reduce draw work.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C93934-AA28-4F58-B393-4E41AB37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38350"/>
            <a:ext cx="32004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000DA6-E5D7-4650-A90C-C07F7137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38350"/>
            <a:ext cx="320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ED498C-B84B-4EEF-ADA8-2DAAE19F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2D/3D situation platform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02CAD6-6064-4A30-8043-A9E3A2E4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6F9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86F9F"/>
                </a:solidFill>
                <a:latin typeface="Avenir Next"/>
                <a:ea typeface="Avenir Next"/>
                <a:cs typeface="Avenir Next"/>
              </a:rPr>
              <a:t>SOA layers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C07802-29C6-4956-9328-E1B48A72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289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Infrastructure, storage, service, and application interaction.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8A57B5-645A-4BFA-813E-74DD0DD0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814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26AB81-7A79-45F6-9B09-900B6B84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528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6F9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86F9F"/>
                </a:solidFill>
                <a:latin typeface="Avenir Next"/>
                <a:ea typeface="Avenir Next"/>
                <a:cs typeface="Avenir Next"/>
              </a:rPr>
              <a:t>Services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C6B098-D613-435A-8A76-86D10FAC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528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Scenario, model, map, measurement, plotting, and basic support.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8FA8AD-7D60-4B1C-B460-DACAD1BE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2ED5E0-53A5-41CC-9680-7423DDCE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7675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6F9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86F9F"/>
                </a:solidFill>
                <a:latin typeface="Avenir Next"/>
                <a:ea typeface="Avenir Next"/>
                <a:cs typeface="Avenir Next"/>
              </a:rPr>
              <a:t>Deployment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DC03D0-E397-4C21-B816-8FF50F62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767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Standard server, portable server, and standalone modes.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EC8CB5-70D2-4E89-B103-F39A3B06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683EDF-7748-4095-9862-60BD8B4A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Sources: user DOCX; WebGL papers supplied in workspace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6D3D79-DB68-493E-993E-6F63887E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16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16B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361281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FD221D-C7A6-488D-91E7-5708FDCB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6776AE0-8205-45BF-BE48-05D67AE0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D02B8B8-0537-42E0-817A-B68C42F8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RENDERING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4298C-9C0A-4519-8B6D-90664C8A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Performance comes from the whole pipeline, not WebGL alone.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8DD05-DDE2-4C4D-8441-0C5D00C6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676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20E8B-A185-4085-B846-3F2B4F16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67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01E0F-DCA4-4BA5-94AC-DA98AE06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3D authoring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814D8-B423-45B9-8920-CD14AC0F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2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Blender / 3ds Max / source 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28977-0A35-4847-A309-07B6A4B9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099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72E66-CF3C-46D0-A603-253DF8E5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57450"/>
            <a:ext cx="1676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5EA70-9A87-4377-A5FD-E4FAB307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57450"/>
            <a:ext cx="167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35599-E571-495D-AF16-882C3749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860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Web asset format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83A72-DEA0-4B96-A2B5-D523D6CC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2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glTF-style JSON, binary buffers, images, shaders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8F7EA-3D6A-4874-9064-E65ACF8C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99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EE5CC-9367-4EBA-AC81-F1313699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1676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CB4F51-E4ED-4A32-AD7B-C1BE42E6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167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578B1-356B-45B3-B98E-F78991FA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860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Network scheduling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8F0C0-7894-444B-BA2F-B765E2A5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718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2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tile queues and trajectory-based prefetching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7398E-5BF5-45CF-8D23-247D8A90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4931B3-EF56-42E4-8158-9FBC60D2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57450"/>
            <a:ext cx="1676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7E2A9-6259-4781-89BC-736E04E0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57450"/>
            <a:ext cx="167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C2A83B-2F2E-4853-BBC6-729F6813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Visibility filter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2C2238-1F97-44C1-AAB7-D0A0BBD4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718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2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frustum, depth, back-face and occlusion logic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F74703-B5A7-4FB6-A8C3-1C9EF5DD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099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7EC2B2-C218-45E6-A7C0-7A4115C1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57450"/>
            <a:ext cx="1676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30F0CB-1A48-4708-96B7-04E65A99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57450"/>
            <a:ext cx="167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CEF974-3609-4F44-BA38-9A8599A0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860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GPU render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DDAEFB-C599-4FF1-B3AB-CF59CECC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7180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2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WebGL draws the visible working set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25B9CB-8BEB-4D6B-8586-DCB29317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948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CC66C4-5C1D-4C33-8EBD-00A483DC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The geographic paper combines glTF, prefetching, view-frustum culling, occlusion/back-face visibility, and Cesium/WebGL. The demo mirrors that stack with generated city tiles and live working-set counters.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3053F5-1DD9-4FBE-ADDC-E1859A70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EABBD9-9798-47FF-A922-3920FFF0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Sources: user DOCX; WebGL papers supplied in workspace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7EF530-1EE9-46E9-B107-BB3FCAEF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16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16B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667655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7EF38B-BD80-4A9E-AD78-7CCA9C62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D130F1B-47F5-48EC-918F-AC7C73E8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02D575E-81FD-4C24-834F-EFB2216D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SCALE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F8948-9850-45DF-A161-4965C7FA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The New York case proves the problem is data movement plus draw cost.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7CC35-378F-436D-86C8-A8C73330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0F46C-B016-4108-8390-20DCB295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027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765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A362A-CD26-43BA-9ED3-D7F89D70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800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B0BB2-60A3-43AD-8602-56EFBB89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33675"/>
            <a:ext cx="1800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city model count in experiment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12895-8D28-4904-A9F6-929AE3E1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098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9731B-A44C-4914-95D6-583C7E87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0027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354k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D412A-ABF3-4B1D-B4C0-437328F0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71750"/>
            <a:ext cx="1800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POLYGONS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306B3-43B6-42A8-9889-EFA689BA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33675"/>
            <a:ext cx="1800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reported 354,249 polygons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D1FFF-7F6B-4A16-9999-954553C1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098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95854-C35D-41C4-8E35-93E5C0F1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0027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550k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B3660-69E8-469B-B1CA-BEE386AE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71750"/>
            <a:ext cx="1800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VERTICES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A8DD6-094F-40A3-BB4E-6A695DDE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33675"/>
            <a:ext cx="1800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reported 549,702 vertices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6BB5B4-7B3B-4A54-A898-EA52A190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098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AFA977-987B-415A-B121-EFE76AE2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00275"/>
            <a:ext cx="1800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36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E38E41-CB27-4E07-8668-E276EEA5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71750"/>
            <a:ext cx="18002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FPS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CF2341-CF42-4D6C-AD5B-AE47C25D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33675"/>
            <a:ext cx="1800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average browsing frame 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1A444-FEDB-49BD-A37F-05856AC0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098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54820E-C27F-47D6-A60A-F050A460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00275"/>
            <a:ext cx="14668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&lt;1s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2479AD-722D-4203-BBCE-D210016F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AVG RESPONSE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CF7A8C-26B7-460E-9D2A-5AAD7BC2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3367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average platform response 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99365A-DB8C-413F-AD38-5E71D347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Storage reduction after conversion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FC58D2-FB8E-4DE6-8DF2-6D88611B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582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EB3595-1AF7-4FF2-AE55-E5CB4A0C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582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F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E95132-C914-44AA-9A34-2DDA02A0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582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Before conversion: 35.6 MB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BD80A2-87C1-4D95-B550-E70AE8F6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582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C4228B-8C85-4E4F-B25B-C5803E2D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5434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C67155-F578-4375-AC24-DE84F35F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5829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After glTF conversion: 27.7 MB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0BDD6A-5CC2-4073-9607-27BAB771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The important point is not the exact file format alone. The paper reduces payload size, predicts what the user will need next, then renders only the useful subset.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18E89F-8F0E-412D-B260-F1669020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D93D88-D289-401B-8815-BB57CA26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Source: 3D Geographic Scenes Visualization Based on WebGL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8C5C50-9D18-4835-A198-8BE72E3A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16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16B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985313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09CDF0-5199-46AB-9A43-E00ACE2C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6478AF6-F397-4E5C-AED9-EC827C7E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470616E-58E9-4F35-B00D-53D19BF1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PROJECT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247EB-4307-4642-A2E3-6EEF930E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620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The city demo makes invisible optimization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154F8-7EB1-4878-9A39-77E4F3DE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8765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3ab6c802c4042"/>
          <a:stretch xmlns:a="http://schemas.openxmlformats.org/drawingml/2006/main"/>
        </p:blipFill>
        <p:spPr>
          <a:xfrm xmlns:a="http://schemas.openxmlformats.org/drawingml/2006/main">
            <a:off x="1458871" y="2000250"/>
            <a:ext cx="1444709" cy="3600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0EB2C-AD3D-4E5A-BBA6-56D0B427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9550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5D7B7-A3E6-4354-A814-E627265E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955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33E2E-5296-49E5-8D92-DEA15A36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669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Working 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85645-A7D8-4A42-8F80-49ED340D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52700"/>
            <a:ext cx="2838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The HUD reports visible objects, culled objects, FPS, and queued tile requests while the camera moves.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BB3CC-397C-435C-9B9E-810E6652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4CEAB-45DE-4A6E-97D0-5ACC1557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A37FF-BE02-4015-B33B-715A079E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Prefetch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5F2B4-8010-4C7D-9F6B-E7457F01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52700"/>
            <a:ext cx="2838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The cache panel predicts near-future tiles from the camera heading and marks queued, loaded, and current regions.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7EC41-8786-4B1F-9FF3-41801782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909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56F3CB-072B-4098-8A31-D410A426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909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CB964-BB7F-455F-90EB-CEC4CD12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6240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GPU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C8C468-4FF7-4175-A78E-B62BB91F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48150"/>
            <a:ext cx="2838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The renderer uses WebGL shaders, depth testing, and back-face culling so the browser canvas behaves like a 3D runtime.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17AB33-0173-448A-AFCB-23F44F1C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909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CDC63-D56A-47E3-AF08-5B5ACF18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909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B72ED-A2C1-4485-859B-438ACFE5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Seminar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904D65-32FE-4241-9D44-84C4E5CD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48150"/>
            <a:ext cx="2838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Open webgl-showcase/city-roaming/index.html during the rendering-pipeline section.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6D1CF2-070F-47F4-AA61-1ADF27CC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BD8661-1637-4910-BB6C-36B54A94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Project file: webgl-showcase/city-roaming/index.html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1B377C-3305-458B-90B3-B058C453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16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16B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5600624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481539-1F46-4B1A-8704-01605063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C63F602-AE69-4B45-A042-DA4D4623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C6CCDC1-50A8-4CCB-B095-C56BD252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SITUATION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BACDB-1CC1-4116-8DD2-8CBD7C60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23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In the situation paper, WebGL is the view layer of a service platform.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6C715-68FE-4D83-91F8-BFBB6320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10058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83C66-93F4-4128-AE34-F6D4E680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F7DDB-589E-4C99-B262-47813178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860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Application interaction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E9F18-14DC-48F1-A31A-DE8EBFF3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76475"/>
            <a:ext cx="752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Web UI, 2D/3D situation display, Cesium 3D, data service interface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A1C77-DE15-4DB1-B32A-E51AC47F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10058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11FAD7-66CE-4C1B-A887-ED59B5B9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6E763-9B0E-4380-B6D0-3F73F22A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Service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E5864-1D49-46FD-905D-413A2F32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95625"/>
            <a:ext cx="752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scenario building, model management, map management, measurement, plotting, basic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29F1C-6D3A-4944-93EC-820A5A15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10058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733009-B6A2-435A-A051-FF2CED50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1248C-E915-4A61-BA79-7FE35DA0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243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Data storage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55E29-601E-4736-B536-9A179ABD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14775"/>
            <a:ext cx="752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entity models, geographic environment, schemes, users, configuration, logs, cache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E861F-D657-45B2-A6D7-5CD6A5F6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10058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2E0AB9-6F6C-4B74-B0B5-500AFF59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0198C-92DD-40E8-9391-BC217276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434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Infrastructure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F5422C-B5EA-4182-BA18-6A4C74BD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33925"/>
            <a:ext cx="752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standard server, portable server, standalone deployment, browser clients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7C5178-FEFF-4188-B92B-2149E170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This is the architectural jump: the browser canvas is no longer a demo surface. It becomes one module inside a maintainable, data-driven decision-support system.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0DC91-0E37-4EDD-AC73-4D3F67F2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E9BA68-B302-44B1-840D-F2E18C8B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Source: Design of a 2D and 3D Situation Display Platform Based on WebGL and Modern Web Technology Stack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1E8663-7CA9-463A-A7FA-54F32362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16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16B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5979455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125A25-41D5-4468-8970-88CE7928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1CCB96C-40CE-4F43-99F4-7708B0F4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28D7E00-E87C-4B27-86E4-5A184E27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PROJECT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F2A08-28B8-447D-93EF-3CACF59A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001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The situation demo turns WebGL into a live operational surface.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7c63bd6614851"/>
          <a:srcRect xmlns:a="http://schemas.openxmlformats.org/drawingml/2006/main" l="705" t="0" r="7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657350"/>
            <a:ext cx="3543300" cy="4152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FA19B-8B86-4A86-B38E-6FE7B778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6FF8C-26AD-4F07-87FB-5B25ACE6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C9C26-4509-48CA-9049-BF345F2E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3D terrain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2F7E1-7B4A-4D84-94CB-BD113F4D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362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A WebGL terrain surface renders the current operational environment and moving entities.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AD4C9-C0A3-4042-B9B9-8426FDE4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0025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599EBE-043E-4E6E-A79F-EF904720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002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C99D64-5F21-44A0-9E1A-90102CB7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7170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2D linked 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C9185-6C53-4EE4-ADE1-DF8041CA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57450"/>
            <a:ext cx="2362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A synchronized map view shows tracks, labels, routes, sensor rings, and selected entity range.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AE4B80-D343-40E8-951A-42AEE31B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0A004-4C1A-4843-BA1E-3178FE8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8CE0EA-DEC9-4916-BEA1-C9F1F996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Layer controls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F1A55E-B901-452A-A3A6-99B8CBC8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362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The interface exposes map-style toggles for terrain, sensors, routes, trails, and labels.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2BA54A-25D2-469D-8888-7243BBEB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5760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5ADE0-ED78-4B2B-978C-D4B3FBE0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576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C7D893-0C94-4C71-AC19-568EDAFD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82905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Replay/data bus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DE29CD-8AC8-4220-BAE4-241516DB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14800"/>
            <a:ext cx="2362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A simulated live stream drives packet, latency, mission time, and entity-state readouts.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903435-9C61-4A67-96AD-314C7068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8BD4AE-E9D7-4166-B5D3-808131F0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Project file: webgl-showcase/situation-display/index.html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39E0D1-3BC1-4C47-8510-2EE603FE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16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16B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73091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6EA69B-F24E-4F4B-A01E-77BCFE67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9300DA5-E4B9-45DF-91B5-FB38EC01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94E268E-BDE0-492B-9AA0-D4AE15CC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435D7-26C0-4C98-8598-A78990B5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The remaining research problems are engineering problems, not just graphics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0FAE3-397F-4E4C-AF96-4FFF996B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3028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D4834-B6D7-4DA8-920C-575BA810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3028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69074-4029-4F53-A2EA-E6CDDB39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Asset pipeline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E5D94-1554-4309-8ADC-A8D6254E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2628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73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Model conversion can lose fidelity; formats must preserve materials, scale, metadata, and loading performance.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58E99-AEC8-4986-B6DF-D86D2DCF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71700"/>
            <a:ext cx="3028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56B6B-DAE7-4819-831A-11A5FC87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71700"/>
            <a:ext cx="3028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1F5B7-7DDF-4DBA-A03B-0540C12D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622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Prediction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F0CD4-E702-4351-89D0-BBD4D895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2628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73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Prefetching helps only when the next viewpoint is predicted well enough to avoid wasted bandwidth.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A30DC-72E3-402B-9A39-BD1CD668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71700"/>
            <a:ext cx="3028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453DF-DFC9-43E3-97B1-A6FD8BDB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71700"/>
            <a:ext cx="3028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A23FA-3ACD-4227-8F4A-946F11F3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Mobile performance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9168A-06C7-46F4-8310-CB8240F4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628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73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Thermals, memory ceilings, and GPU differences make browser 3D uneven across devices.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826547-B2F9-4D14-BE06-7ACC73A2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3028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73237-2B16-4F03-9F3E-BA1F53AA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3028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F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791E56-1966-4E30-8188-96ABF479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Multi-user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72BD95-126C-4A5C-89BD-08656EBC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2628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73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Collaborative 3D requires synchronization, authority, conflict handling, and replayable events.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467C44-33AC-4AB6-9EC8-A940001B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1900"/>
            <a:ext cx="3028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74C920-451A-4D79-B44F-EE35469E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1900"/>
            <a:ext cx="3028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32AED7-2FF1-4A96-B9C0-2E190E9F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624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Security/deployment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AA0F94-FEA3-40D6-A973-8E80958F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67200"/>
            <a:ext cx="2628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73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Operational WebGL systems need access control, logs, offline mode, and service reliability.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94E764-5668-4DCC-9290-39BD9ADF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71900"/>
            <a:ext cx="3028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E3EF37-2106-4493-93B7-2FF5CCF1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71900"/>
            <a:ext cx="3028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CDFBF6-2FE8-499D-99E0-87AB5A29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6240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UX density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F333F2-7FD0-4902-A93D-12D97F57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67200"/>
            <a:ext cx="2628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73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3D views must avoid becoming visually impressive but operationally hard to scan.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3CC946-A78A-44BF-A927-CEA79EE6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AAC8CE-6D5D-458E-A082-F9691E50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Sources: user DOCX; WebGL papers supplied in workspace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716E92-2C3A-4212-AE0E-BD3FD84F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16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16B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268843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B98245-5265-418F-B57B-E2D031DC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0C36E59-E7A4-4C01-BABA-D20F660F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9C8B114-044A-4A32-AA0F-E65894E1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26CA1-AC24-47A0-A2BF-49E65CC0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Turn the showcase into a progressive WebGL research prototype.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22B8D-B340-4DDD-81C2-9E103359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95950-DC15-48AA-AFDC-9C167543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8B69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D8B69"/>
                </a:solidFill>
                <a:latin typeface="Georgia"/>
                <a:ea typeface="Georgia"/>
                <a:cs typeface="Georgia"/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B139A-6F2D-49DC-908C-40B213D7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Static WebGL labs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24BEC-03F3-4530-877C-9D9580F8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810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Dependency-free demos show rendering, culling, prefetch, 2D/3D linkage, layers, and replay.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C34E4-65AE-466D-A307-57A4A94F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004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589B5-DDEA-4BEA-A55F-BB129D18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051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7932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C77932"/>
                </a:solidFill>
                <a:latin typeface="Georgia"/>
                <a:ea typeface="Georgia"/>
                <a:cs typeface="Georgia"/>
              </a:rPr>
              <a:t>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A3C8E-B3CB-44C4-9642-11F0B80C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29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Real asset 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052C8-2F68-4DC9-994B-A1EDB855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5285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810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Add glTF/3D Tiles loading, model metadata, texture budgets, and progressive LOD.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6C1A3-FD3F-4632-9021-65D34ECA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F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EBA0E-145F-4175-BFA9-C58D737D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051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86F9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386F9F"/>
                </a:solidFill>
                <a:latin typeface="Georgia"/>
                <a:ea typeface="Georgia"/>
                <a:cs typeface="Georgia"/>
              </a:rPr>
              <a:t>Then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A21DB-6FE6-4CBB-BD2C-375D5D3E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Live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4CCE9-B5E0-47EE-9C76-00EC9753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810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Connect WebSocket data streams, cache storage, scenario files, and service health telemetry.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65C58-28CE-4E38-83E8-ED1C2CDD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004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DFB54F-1F6C-493B-8924-364297E9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051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1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201B"/>
                </a:solidFill>
                <a:latin typeface="Georgia"/>
                <a:ea typeface="Georgia"/>
                <a:cs typeface="Georgia"/>
              </a:rPr>
              <a:t>Finally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8E843-52C8-4B74-8268-BCA32851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29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Collaborative GIS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6A546-736B-4B5B-8AC6-74C13017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5285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810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Add multi-user state, measurement workflows, annotations, and exportable analysis sessions.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354BC-F982-4446-BF35-B2D5517A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1C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6201C"/>
                </a:solidFill>
                <a:latin typeface="Avenir Next"/>
                <a:ea typeface="Avenir Next"/>
                <a:cs typeface="Avenir Next"/>
              </a:rPr>
              <a:t>Closing thesis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4184DB-68B5-4C9A-AC58-DFC4F295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3149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01C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6201C"/>
                </a:solidFill>
                <a:latin typeface="Georgia"/>
                <a:ea typeface="Georgia"/>
                <a:cs typeface="Georgia"/>
              </a:rPr>
              <a:t>WebGL is most compelling when the browser is treated as a full visualization system: render engine, UI surface, data client, and analysis workspace.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056351-4790-4227-BD24-BEA4BCFD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1B3A91-FEF8-42FC-AF7A-F1D1BCEF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6716B"/>
                </a:solidFill>
                <a:latin typeface="Avenir Next"/>
                <a:ea typeface="Avenir Next"/>
                <a:cs typeface="Avenir Next"/>
              </a:rPr>
              <a:t>Sources: user DOCX; WebGL papers supplied in workspace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97AFD3-A978-4355-97EB-FAA12CF3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16B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16B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54723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2026-05-01T09:13:52.4180000Z</dcterms:created>
  <dcterms:modified xsi:type="dcterms:W3CDTF">2026-05-01T09:13:52.4180000Z</dcterms:modified>
</coreProperties>
</file>